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7"/>
  </p:notesMasterIdLst>
  <p:handoutMasterIdLst>
    <p:handoutMasterId r:id="rId18"/>
  </p:handoutMasterIdLst>
  <p:sldIdLst>
    <p:sldId id="257" r:id="rId5"/>
    <p:sldId id="268" r:id="rId6"/>
    <p:sldId id="269" r:id="rId7"/>
    <p:sldId id="263" r:id="rId8"/>
    <p:sldId id="270" r:id="rId9"/>
    <p:sldId id="272" r:id="rId10"/>
    <p:sldId id="273" r:id="rId11"/>
    <p:sldId id="274" r:id="rId12"/>
    <p:sldId id="275" r:id="rId13"/>
    <p:sldId id="276" r:id="rId14"/>
    <p:sldId id="277" r:id="rId15"/>
    <p:sldId id="278" r:id="rId16"/>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4660"/>
  </p:normalViewPr>
  <p:slideViewPr>
    <p:cSldViewPr>
      <p:cViewPr varScale="1">
        <p:scale>
          <a:sx n="82" d="100"/>
          <a:sy n="82" d="100"/>
        </p:scale>
        <p:origin x="874" y="77"/>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10/29/2025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5:26:47.605"/>
    </inkml:context>
    <inkml:brush xml:id="br0">
      <inkml:brushProperty name="width" value="0.035" units="cm"/>
      <inkml:brushProperty name="height" value="0.035" units="cm"/>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5:26:48.931"/>
    </inkml:context>
    <inkml:brush xml:id="br0">
      <inkml:brushProperty name="width" value="0.035" units="cm"/>
      <inkml:brushProperty name="height" value="0.035" units="cm"/>
    </inkml:brush>
  </inkml:definitions>
  <inkml:trace contextRef="#ctx0" brushRef="#br0">1324 29 24575,'-21'-1'0,"-1"-1"0,-24-6 0,-20-2 0,-43 3 0,-151 9 0,237-1 0,0 2 0,0 0 0,1 2 0,0 1 0,0 0 0,0 2 0,1 0 0,0 2 0,0 0 0,1 1 0,1 1 0,-1 1 0,2 1 0,0 0 0,1 1 0,1 1 0,-26 31 0,-30 51 0,-35 43 0,70-92 0,1 1 0,3 2 0,-35 72 0,60-103 0,0-1 0,1 1 0,1 0 0,-5 40 0,-3 87 0,12-93 0,1-1 0,3 1 0,16 89 0,-11-108 0,2 1 0,2-1 0,2-1 0,0 0 0,3-1 0,23 40 0,-18-40 0,1 0 0,1-2 0,50 54 0,-42-49-1365,-21-21-5461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5:27:04.913"/>
    </inkml:context>
    <inkml:brush xml:id="br0">
      <inkml:brushProperty name="width" value="0.035" units="cm"/>
      <inkml:brushProperty name="height" value="0.035" units="cm"/>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5:27:05.780"/>
    </inkml:context>
    <inkml:brush xml:id="br0">
      <inkml:brushProperty name="width" value="0.035" units="cm"/>
      <inkml:brushProperty name="height" value="0.035" units="cm"/>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5:27:07.509"/>
    </inkml:context>
    <inkml:brush xml:id="br0">
      <inkml:brushProperty name="width" value="0.035" units="cm"/>
      <inkml:brushProperty name="height" value="0.03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10/29/2025</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BB3170FE-A6F3-49E7-943C-7518B3E8DCFB}" type="datetime1">
              <a:rPr lang="en-US" smtClean="0"/>
              <a:t>10/29/2025</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A7D413AF-691C-4C5D-B5AD-D44C44B47210}" type="datetime1">
              <a:rPr lang="en-US" smtClean="0"/>
              <a:t>10/29/2025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CCB7AD-55AC-4D53-9704-4F6188BAEA17}" type="datetime1">
              <a:rPr lang="en-US" smtClean="0"/>
              <a:t>10/29/2025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D89340B9-8B7F-48CA-A545-E6A4BFA964C8}" type="datetime1">
              <a:rPr lang="en-US" smtClean="0"/>
              <a:t>10/29/2025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AEBCAB6C-471E-4C00-875A-D0A9484132EB}" type="datetime1">
              <a:rPr lang="en-US" smtClean="0"/>
              <a:t>10/29/2025</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0346A6C1-F3C0-416F-A750-FCA0385A5619}" type="datetime1">
              <a:rPr lang="en-US" smtClean="0"/>
              <a:t>10/29/2025</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0CF80D-EC6E-46CD-B3F3-99835E5B904C}" type="datetime1">
              <a:rPr lang="en-US" smtClean="0"/>
              <a:t>10/29/2025</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B1154A4A-8507-436C-84A1-23B8B533C3AD}" type="datetime1">
              <a:rPr lang="en-US" smtClean="0"/>
              <a:t>10/29/2025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99576642-B65E-4B34-A523-B21E4D8BDF49}" type="datetime1">
              <a:rPr lang="en-US" smtClean="0"/>
              <a:t>10/29/2025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78C2DF46-B13C-44F9-9071-8CC012AFAF4C}" type="datetime1">
              <a:rPr lang="en-US" smtClean="0"/>
              <a:t>10/29/2025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C86D98A7-DBB8-4150-9F48-031F48B11F34}" type="datetime1">
              <a:rPr lang="en-US" smtClean="0"/>
              <a:t>10/29/2025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C31B19B3-4049-494C-AB3C-74B41E582A2D}" type="datetime1">
              <a:rPr lang="en-US" smtClean="0"/>
              <a:t>10/29/2025</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image" Target="../media/image9.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6.xml"/><Relationship Id="rId6" Type="http://schemas.openxmlformats.org/officeDocument/2006/relationships/customXml" Target="../ink/ink3.xml"/><Relationship Id="rId5" Type="http://schemas.openxmlformats.org/officeDocument/2006/relationships/image" Target="../media/image10.png"/><Relationship Id="rId4" Type="http://schemas.openxmlformats.org/officeDocument/2006/relationships/customXml" Target="../ink/ink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000" dirty="0">
                <a:solidFill>
                  <a:schemeClr val="accent1"/>
                </a:solidFill>
                <a:latin typeface="Agency FB" panose="020B0503020202020204" pitchFamily="34" charset="0"/>
              </a:rPr>
              <a:t>ROBOTICS</a:t>
            </a:r>
          </a:p>
        </p:txBody>
      </p:sp>
      <p:sp>
        <p:nvSpPr>
          <p:cNvPr id="5" name="Subtitle 4"/>
          <p:cNvSpPr>
            <a:spLocks noGrp="1"/>
          </p:cNvSpPr>
          <p:nvPr>
            <p:ph type="subTitle" idx="1"/>
          </p:nvPr>
        </p:nvSpPr>
        <p:spPr>
          <a:xfrm>
            <a:off x="1625176" y="2616200"/>
            <a:ext cx="8735325" cy="490606"/>
          </a:xfrm>
        </p:spPr>
        <p:txBody>
          <a:bodyPr>
            <a:normAutofit lnSpcReduction="10000"/>
          </a:bodyPr>
          <a:lstStyle/>
          <a:p>
            <a:r>
              <a:rPr lang="en-US" dirty="0">
                <a:solidFill>
                  <a:schemeClr val="tx1"/>
                </a:solidFill>
                <a:latin typeface="Bahnschrift Light" panose="020B0502040204020203" pitchFamily="34" charset="0"/>
              </a:rPr>
              <a:t>Exploring the Past, Present, and Future</a:t>
            </a:r>
          </a:p>
        </p:txBody>
      </p:sp>
      <p:sp>
        <p:nvSpPr>
          <p:cNvPr id="3" name="TextBox 2">
            <a:extLst>
              <a:ext uri="{FF2B5EF4-FFF2-40B4-BE49-F238E27FC236}">
                <a16:creationId xmlns:a16="http://schemas.microsoft.com/office/drawing/2014/main" id="{AC7D308E-28C7-9B51-0300-F01374CA9054}"/>
              </a:ext>
            </a:extLst>
          </p:cNvPr>
          <p:cNvSpPr txBox="1"/>
          <p:nvPr/>
        </p:nvSpPr>
        <p:spPr>
          <a:xfrm>
            <a:off x="1501669" y="3135406"/>
            <a:ext cx="4464496" cy="1323439"/>
          </a:xfrm>
          <a:prstGeom prst="rect">
            <a:avLst/>
          </a:prstGeom>
          <a:noFill/>
        </p:spPr>
        <p:txBody>
          <a:bodyPr wrap="square" rtlCol="0">
            <a:spAutoFit/>
          </a:bodyPr>
          <a:lstStyle/>
          <a:p>
            <a:r>
              <a:rPr lang="en-IN" sz="2000" dirty="0">
                <a:solidFill>
                  <a:schemeClr val="accent1">
                    <a:lumMod val="20000"/>
                    <a:lumOff val="80000"/>
                  </a:schemeClr>
                </a:solidFill>
                <a:latin typeface="Arial" panose="020B0604020202020204" pitchFamily="34" charset="0"/>
                <a:cs typeface="Arial" panose="020B0604020202020204" pitchFamily="34" charset="0"/>
              </a:rPr>
              <a:t>Name</a:t>
            </a:r>
            <a:r>
              <a:rPr lang="en-IN" sz="2000" b="1" dirty="0">
                <a:solidFill>
                  <a:schemeClr val="accent1">
                    <a:lumMod val="20000"/>
                    <a:lumOff val="80000"/>
                  </a:schemeClr>
                </a:solidFill>
                <a:latin typeface="Arial" panose="020B0604020202020204" pitchFamily="34" charset="0"/>
                <a:cs typeface="Arial" panose="020B0604020202020204" pitchFamily="34" charset="0"/>
              </a:rPr>
              <a:t>:</a:t>
            </a:r>
            <a:r>
              <a:rPr lang="en-IN" sz="2000" dirty="0">
                <a:solidFill>
                  <a:schemeClr val="accent1">
                    <a:lumMod val="20000"/>
                    <a:lumOff val="80000"/>
                  </a:schemeClr>
                </a:solidFill>
                <a:latin typeface="Arial" panose="020B0604020202020204" pitchFamily="34" charset="0"/>
                <a:cs typeface="Arial" panose="020B0604020202020204" pitchFamily="34" charset="0"/>
              </a:rPr>
              <a:t> Kasturi Mahendra Sawant</a:t>
            </a:r>
          </a:p>
          <a:p>
            <a:endParaRPr lang="en-IN" sz="2000" dirty="0">
              <a:solidFill>
                <a:schemeClr val="accent1">
                  <a:lumMod val="20000"/>
                  <a:lumOff val="80000"/>
                </a:schemeClr>
              </a:solidFill>
              <a:latin typeface="Arial" panose="020B0604020202020204" pitchFamily="34" charset="0"/>
              <a:cs typeface="Arial" panose="020B0604020202020204" pitchFamily="34" charset="0"/>
            </a:endParaRPr>
          </a:p>
          <a:p>
            <a:r>
              <a:rPr lang="en-IN" sz="2000" dirty="0">
                <a:solidFill>
                  <a:schemeClr val="accent1">
                    <a:lumMod val="20000"/>
                    <a:lumOff val="80000"/>
                  </a:schemeClr>
                </a:solidFill>
                <a:latin typeface="Arial" panose="020B0604020202020204" pitchFamily="34" charset="0"/>
                <a:cs typeface="Arial" panose="020B0604020202020204" pitchFamily="34" charset="0"/>
              </a:rPr>
              <a:t>MCA-SANDWICH</a:t>
            </a:r>
          </a:p>
          <a:p>
            <a:endParaRPr lang="en-IN" sz="2000" dirty="0">
              <a:solidFill>
                <a:schemeClr val="accent1">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2000463" y="548680"/>
            <a:ext cx="7971873" cy="1223963"/>
          </a:xfrm>
        </p:spPr>
        <p:txBody>
          <a:bodyPr/>
          <a:lstStyle/>
          <a:p>
            <a:r>
              <a:rPr lang="en-US" dirty="0">
                <a:solidFill>
                  <a:schemeClr val="accent1"/>
                </a:solidFill>
              </a:rPr>
              <a:t>INTRODUCTION TO ROBOTICS</a:t>
            </a:r>
          </a:p>
        </p:txBody>
      </p:sp>
      <p:sp>
        <p:nvSpPr>
          <p:cNvPr id="14" name="Content Placeholder 13"/>
          <p:cNvSpPr>
            <a:spLocks noGrp="1"/>
          </p:cNvSpPr>
          <p:nvPr>
            <p:ph idx="1"/>
          </p:nvPr>
        </p:nvSpPr>
        <p:spPr>
          <a:xfrm>
            <a:off x="2205980" y="2204864"/>
            <a:ext cx="7560840" cy="4104456"/>
          </a:xfrm>
        </p:spPr>
        <p:txBody>
          <a:bodyPr/>
          <a:lstStyle/>
          <a:p>
            <a:pPr marL="0" indent="0">
              <a:lnSpc>
                <a:spcPct val="150000"/>
              </a:lnSpc>
              <a:buNone/>
            </a:pPr>
            <a:r>
              <a:rPr lang="en-US" dirty="0"/>
              <a:t>In today's world, </a:t>
            </a:r>
            <a:r>
              <a:rPr lang="en-US" b="1" dirty="0"/>
              <a:t>robotics</a:t>
            </a:r>
            <a:r>
              <a:rPr lang="en-US" dirty="0"/>
              <a:t> is not just a concept but a reality. This presentation explores how </a:t>
            </a:r>
            <a:r>
              <a:rPr lang="en-US" b="1" dirty="0"/>
              <a:t>technology</a:t>
            </a:r>
            <a:r>
              <a:rPr lang="en-US" dirty="0"/>
              <a:t> is integrated into our </a:t>
            </a:r>
            <a:r>
              <a:rPr lang="en-US" b="1" dirty="0"/>
              <a:t>everyday lives </a:t>
            </a:r>
            <a:r>
              <a:rPr lang="en-US" dirty="0"/>
              <a:t>through robotics. We will examine various applications and their impact on society.</a:t>
            </a:r>
          </a:p>
          <a:p>
            <a:pPr marL="0" indent="0" algn="ctr">
              <a:buNone/>
            </a:pPr>
            <a:endParaRPr lang="en-US" dirty="0"/>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1CF3B-E7D0-8928-7ED8-5CDD6E529EE2}"/>
              </a:ext>
            </a:extLst>
          </p:cNvPr>
          <p:cNvSpPr>
            <a:spLocks noGrp="1"/>
          </p:cNvSpPr>
          <p:nvPr>
            <p:ph type="title"/>
          </p:nvPr>
        </p:nvSpPr>
        <p:spPr>
          <a:xfrm>
            <a:off x="1218882" y="-315416"/>
            <a:ext cx="5523602" cy="2438400"/>
          </a:xfrm>
        </p:spPr>
        <p:txBody>
          <a:bodyPr/>
          <a:lstStyle/>
          <a:p>
            <a:r>
              <a:rPr lang="en-IN" dirty="0"/>
              <a:t>History of robotics</a:t>
            </a:r>
          </a:p>
        </p:txBody>
      </p:sp>
      <p:sp>
        <p:nvSpPr>
          <p:cNvPr id="3" name="Text Placeholder 2">
            <a:extLst>
              <a:ext uri="{FF2B5EF4-FFF2-40B4-BE49-F238E27FC236}">
                <a16:creationId xmlns:a16="http://schemas.microsoft.com/office/drawing/2014/main" id="{905E7FBE-47BD-2DB0-6DA8-7B9BCE81D834}"/>
              </a:ext>
            </a:extLst>
          </p:cNvPr>
          <p:cNvSpPr>
            <a:spLocks noGrp="1"/>
          </p:cNvSpPr>
          <p:nvPr>
            <p:ph type="body" sz="half" idx="2"/>
          </p:nvPr>
        </p:nvSpPr>
        <p:spPr>
          <a:xfrm>
            <a:off x="1629916" y="2821048"/>
            <a:ext cx="4680520" cy="2696184"/>
          </a:xfrm>
        </p:spPr>
        <p:txBody>
          <a:bodyPr/>
          <a:lstStyle/>
          <a:p>
            <a:r>
              <a:rPr lang="en-US" dirty="0"/>
              <a:t>The journey of robotics began in the early 20th century. From simple machines to advanced AI-driven robots, the evaluation showcases significant milestones that have shaped modern </a:t>
            </a:r>
            <a:r>
              <a:rPr lang="en-US" b="1" dirty="0"/>
              <a:t>robotics technology</a:t>
            </a:r>
            <a:r>
              <a:rPr lang="en-US" dirty="0"/>
              <a:t> </a:t>
            </a:r>
            <a:endParaRPr lang="en-IN" dirty="0"/>
          </a:p>
          <a:p>
            <a:endParaRPr lang="en-IN" dirty="0"/>
          </a:p>
        </p:txBody>
      </p:sp>
      <p:pic>
        <p:nvPicPr>
          <p:cNvPr id="7" name="Picture Placeholder 6">
            <a:extLst>
              <a:ext uri="{FF2B5EF4-FFF2-40B4-BE49-F238E27FC236}">
                <a16:creationId xmlns:a16="http://schemas.microsoft.com/office/drawing/2014/main" id="{8C38DB05-955A-154F-FB43-0F593A359EB1}"/>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2855" r="2855"/>
          <a:stretch>
            <a:fillRect/>
          </a:stretch>
        </p:blipFill>
        <p:spPr>
          <a:xfrm>
            <a:off x="6310313" y="584200"/>
            <a:ext cx="5268912" cy="5588000"/>
          </a:xfrm>
          <a:prstGeom prst="rect">
            <a:avLst/>
          </a:prstGeom>
          <a:ln>
            <a:noFill/>
          </a:ln>
          <a:effectLst>
            <a:softEdge rad="112500"/>
          </a:effectLst>
        </p:spPr>
      </p:pic>
    </p:spTree>
    <p:extLst>
      <p:ext uri="{BB962C8B-B14F-4D97-AF65-F5344CB8AC3E}">
        <p14:creationId xmlns:p14="http://schemas.microsoft.com/office/powerpoint/2010/main" val="4018610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58A17-CA55-6649-4B41-98268476AC6B}"/>
              </a:ext>
            </a:extLst>
          </p:cNvPr>
          <p:cNvSpPr>
            <a:spLocks noGrp="1"/>
          </p:cNvSpPr>
          <p:nvPr>
            <p:ph type="title"/>
          </p:nvPr>
        </p:nvSpPr>
        <p:spPr>
          <a:xfrm>
            <a:off x="981844" y="554788"/>
            <a:ext cx="4062942" cy="1152714"/>
          </a:xfrm>
        </p:spPr>
        <p:txBody>
          <a:bodyPr/>
          <a:lstStyle/>
          <a:p>
            <a:r>
              <a:rPr lang="en-IN" dirty="0"/>
              <a:t>TYPES OF ROBOTICS</a:t>
            </a:r>
          </a:p>
        </p:txBody>
      </p:sp>
      <p:sp>
        <p:nvSpPr>
          <p:cNvPr id="4" name="Text Placeholder 3">
            <a:extLst>
              <a:ext uri="{FF2B5EF4-FFF2-40B4-BE49-F238E27FC236}">
                <a16:creationId xmlns:a16="http://schemas.microsoft.com/office/drawing/2014/main" id="{BCAE58B7-B1D1-8002-E97A-94AF54347DA6}"/>
              </a:ext>
            </a:extLst>
          </p:cNvPr>
          <p:cNvSpPr>
            <a:spLocks noGrp="1"/>
          </p:cNvSpPr>
          <p:nvPr>
            <p:ph type="body" sz="half" idx="2"/>
          </p:nvPr>
        </p:nvSpPr>
        <p:spPr>
          <a:xfrm>
            <a:off x="1218882" y="2060848"/>
            <a:ext cx="4062942" cy="4111352"/>
          </a:xfrm>
        </p:spPr>
        <p:txBody>
          <a:bodyPr/>
          <a:lstStyle/>
          <a:p>
            <a:pPr marL="342900" indent="-342900">
              <a:buFont typeface="Arial" panose="020B0604020202020204" pitchFamily="34" charset="0"/>
              <a:buChar char="•"/>
            </a:pPr>
            <a:r>
              <a:rPr lang="en-US" b="1" dirty="0"/>
              <a:t>Industrial Robots</a:t>
            </a:r>
          </a:p>
          <a:p>
            <a:pPr marL="342900" indent="-342900">
              <a:buFont typeface="Arial" panose="020B0604020202020204" pitchFamily="34" charset="0"/>
              <a:buChar char="•"/>
            </a:pPr>
            <a:r>
              <a:rPr lang="en-IN" b="1" dirty="0"/>
              <a:t>Service Robots</a:t>
            </a:r>
          </a:p>
          <a:p>
            <a:pPr marL="342900" indent="-342900">
              <a:buFont typeface="Arial" panose="020B0604020202020204" pitchFamily="34" charset="0"/>
              <a:buChar char="•"/>
            </a:pPr>
            <a:r>
              <a:rPr lang="en-US" b="1" dirty="0"/>
              <a:t>Humanoid Robots</a:t>
            </a:r>
          </a:p>
          <a:p>
            <a:pPr marL="342900" indent="-342900">
              <a:buFont typeface="Arial" panose="020B0604020202020204" pitchFamily="34" charset="0"/>
              <a:buChar char="•"/>
            </a:pPr>
            <a:r>
              <a:rPr lang="en-IN" b="1" dirty="0"/>
              <a:t>Mobile Robots</a:t>
            </a:r>
          </a:p>
          <a:p>
            <a:pPr marL="342900" indent="-342900">
              <a:buFont typeface="Arial" panose="020B0604020202020204" pitchFamily="34" charset="0"/>
              <a:buChar char="•"/>
            </a:pPr>
            <a:r>
              <a:rPr lang="en-IN" b="1" dirty="0"/>
              <a:t>Medical Robots</a:t>
            </a:r>
          </a:p>
          <a:p>
            <a:pPr marL="342900" indent="-342900">
              <a:buFont typeface="Arial" panose="020B0604020202020204" pitchFamily="34" charset="0"/>
              <a:buChar char="•"/>
            </a:pPr>
            <a:r>
              <a:rPr lang="en-IN" b="1" dirty="0"/>
              <a:t>Agricultural Robots</a:t>
            </a:r>
          </a:p>
          <a:p>
            <a:pPr marL="342900" indent="-342900">
              <a:buFont typeface="Arial" panose="020B0604020202020204" pitchFamily="34" charset="0"/>
              <a:buChar char="•"/>
            </a:pPr>
            <a:endParaRPr lang="en-IN" b="1" dirty="0"/>
          </a:p>
        </p:txBody>
      </p:sp>
      <p:pic>
        <p:nvPicPr>
          <p:cNvPr id="12" name="Content Placeholder 11">
            <a:extLst>
              <a:ext uri="{FF2B5EF4-FFF2-40B4-BE49-F238E27FC236}">
                <a16:creationId xmlns:a16="http://schemas.microsoft.com/office/drawing/2014/main" id="{D268416F-88D2-EE89-927A-F4F710543B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38428" y="584200"/>
            <a:ext cx="4353018" cy="5588000"/>
          </a:xfrm>
          <a:prstGeom prst="rect">
            <a:avLst/>
          </a:prstGeom>
          <a:ln>
            <a:noFill/>
          </a:ln>
          <a:effectLst>
            <a:softEdge rad="112500"/>
          </a:effectLst>
        </p:spPr>
      </p:pic>
    </p:spTree>
    <p:extLst>
      <p:ext uri="{BB962C8B-B14F-4D97-AF65-F5344CB8AC3E}">
        <p14:creationId xmlns:p14="http://schemas.microsoft.com/office/powerpoint/2010/main" val="14058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9721A-2CD3-4A35-4D02-9E6EE26C019E}"/>
              </a:ext>
            </a:extLst>
          </p:cNvPr>
          <p:cNvSpPr>
            <a:spLocks noGrp="1"/>
          </p:cNvSpPr>
          <p:nvPr>
            <p:ph type="title"/>
          </p:nvPr>
        </p:nvSpPr>
        <p:spPr>
          <a:xfrm>
            <a:off x="1053852" y="404664"/>
            <a:ext cx="5328592" cy="1008112"/>
          </a:xfrm>
        </p:spPr>
        <p:txBody>
          <a:bodyPr numCol="1"/>
          <a:lstStyle/>
          <a:p>
            <a:r>
              <a:rPr lang="en-IN" dirty="0"/>
              <a:t>ROBOTS IN HEALTHCARE</a:t>
            </a:r>
          </a:p>
        </p:txBody>
      </p:sp>
      <p:sp>
        <p:nvSpPr>
          <p:cNvPr id="3" name="Text Placeholder 2">
            <a:extLst>
              <a:ext uri="{FF2B5EF4-FFF2-40B4-BE49-F238E27FC236}">
                <a16:creationId xmlns:a16="http://schemas.microsoft.com/office/drawing/2014/main" id="{62D9A054-2E03-B4C9-0BD6-F0AB6B4FC041}"/>
              </a:ext>
            </a:extLst>
          </p:cNvPr>
          <p:cNvSpPr>
            <a:spLocks noGrp="1"/>
          </p:cNvSpPr>
          <p:nvPr>
            <p:ph type="body" sz="half" idx="2"/>
          </p:nvPr>
        </p:nvSpPr>
        <p:spPr>
          <a:xfrm>
            <a:off x="1218882" y="1700808"/>
            <a:ext cx="4731514" cy="4248472"/>
          </a:xfrm>
        </p:spPr>
        <p:txBody>
          <a:bodyPr>
            <a:noAutofit/>
          </a:bodyPr>
          <a:lstStyle/>
          <a:p>
            <a:pPr lvl="1" algn="ctr">
              <a:lnSpc>
                <a:spcPct val="100000"/>
              </a:lnSpc>
            </a:pPr>
            <a:r>
              <a:rPr lang="en-US" sz="2000" dirty="0"/>
              <a:t>In the healthcare sector, robots assist in surgeries, patient care, and rehabilitation. Their precision and efficiency lead to better healthcare sector, robots assist in surgeries, patient care, and rehabilitation. Their precision and efficiency lead to better patient outcomes and allow healthcare professionals To focus on critical tasks.</a:t>
            </a:r>
            <a:endParaRPr lang="en-IN" sz="2000" dirty="0"/>
          </a:p>
          <a:p>
            <a:pPr algn="ctr">
              <a:lnSpc>
                <a:spcPct val="150000"/>
              </a:lnSpc>
            </a:pPr>
            <a:endParaRPr lang="en-IN" dirty="0"/>
          </a:p>
        </p:txBody>
      </p:sp>
      <p:pic>
        <p:nvPicPr>
          <p:cNvPr id="6" name="Picture Placeholder 5">
            <a:extLst>
              <a:ext uri="{FF2B5EF4-FFF2-40B4-BE49-F238E27FC236}">
                <a16:creationId xmlns:a16="http://schemas.microsoft.com/office/drawing/2014/main" id="{D9F4ACBB-B090-417D-98CB-3DDE27DC520D}"/>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13967" b="13967"/>
          <a:stretch>
            <a:fillRect/>
          </a:stretch>
        </p:blipFill>
        <p:spPr>
          <a:xfrm>
            <a:off x="6454452" y="584200"/>
            <a:ext cx="5124932" cy="5588000"/>
          </a:xfrm>
          <a:prstGeom prst="rect">
            <a:avLst/>
          </a:prstGeom>
          <a:ln>
            <a:noFill/>
          </a:ln>
          <a:effectLst>
            <a:softEdge rad="112500"/>
          </a:effectLst>
        </p:spPr>
      </p:pic>
    </p:spTree>
    <p:extLst>
      <p:ext uri="{BB962C8B-B14F-4D97-AF65-F5344CB8AC3E}">
        <p14:creationId xmlns:p14="http://schemas.microsoft.com/office/powerpoint/2010/main" val="1658538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FD3D6-FD7A-21AF-029E-993D3029E52B}"/>
              </a:ext>
            </a:extLst>
          </p:cNvPr>
          <p:cNvSpPr>
            <a:spLocks noGrp="1"/>
          </p:cNvSpPr>
          <p:nvPr>
            <p:ph type="title"/>
          </p:nvPr>
        </p:nvSpPr>
        <p:spPr>
          <a:xfrm>
            <a:off x="765820" y="404664"/>
            <a:ext cx="4516004" cy="1080120"/>
          </a:xfrm>
        </p:spPr>
        <p:txBody>
          <a:bodyPr/>
          <a:lstStyle/>
          <a:p>
            <a:r>
              <a:rPr lang="en-IN" dirty="0"/>
              <a:t>Robotics IN EDUCATION</a:t>
            </a:r>
          </a:p>
        </p:txBody>
      </p:sp>
      <p:sp>
        <p:nvSpPr>
          <p:cNvPr id="3" name="Text Placeholder 2">
            <a:extLst>
              <a:ext uri="{FF2B5EF4-FFF2-40B4-BE49-F238E27FC236}">
                <a16:creationId xmlns:a16="http://schemas.microsoft.com/office/drawing/2014/main" id="{79D1E5C1-6CBD-B13C-3023-6CE374A60013}"/>
              </a:ext>
            </a:extLst>
          </p:cNvPr>
          <p:cNvSpPr>
            <a:spLocks noGrp="1"/>
          </p:cNvSpPr>
          <p:nvPr>
            <p:ph type="body" sz="half" idx="2"/>
          </p:nvPr>
        </p:nvSpPr>
        <p:spPr>
          <a:xfrm>
            <a:off x="1218882" y="2132856"/>
            <a:ext cx="4062942" cy="3312368"/>
          </a:xfrm>
        </p:spPr>
        <p:txBody>
          <a:bodyPr>
            <a:normAutofit/>
          </a:bodyPr>
          <a:lstStyle/>
          <a:p>
            <a:pPr>
              <a:lnSpc>
                <a:spcPct val="150000"/>
              </a:lnSpc>
            </a:pPr>
            <a:r>
              <a:rPr lang="en-US" dirty="0"/>
              <a:t>Educational robots promote </a:t>
            </a:r>
            <a:r>
              <a:rPr lang="en-US" b="1" dirty="0"/>
              <a:t>STEM learning </a:t>
            </a:r>
            <a:r>
              <a:rPr lang="en-US" dirty="0"/>
              <a:t>and critical thinking among students. By engaging with robotics, learners develop skills that are essential for future careers in technology and engineering fields.</a:t>
            </a:r>
          </a:p>
          <a:p>
            <a:endParaRPr lang="en-IN" dirty="0"/>
          </a:p>
        </p:txBody>
      </p:sp>
      <p:pic>
        <p:nvPicPr>
          <p:cNvPr id="10" name="Picture Placeholder 9">
            <a:extLst>
              <a:ext uri="{FF2B5EF4-FFF2-40B4-BE49-F238E27FC236}">
                <a16:creationId xmlns:a16="http://schemas.microsoft.com/office/drawing/2014/main" id="{2AC17DC9-D376-E701-5AF9-98BB48B74FF0}"/>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13858" b="13858"/>
          <a:stretch>
            <a:fillRect/>
          </a:stretch>
        </p:blipFill>
        <p:spPr>
          <a:prstGeom prst="rect">
            <a:avLst/>
          </a:prstGeom>
          <a:ln>
            <a:noFill/>
          </a:ln>
          <a:effectLst>
            <a:softEdge rad="112500"/>
          </a:effectLst>
        </p:spPr>
      </p:pic>
    </p:spTree>
    <p:extLst>
      <p:ext uri="{BB962C8B-B14F-4D97-AF65-F5344CB8AC3E}">
        <p14:creationId xmlns:p14="http://schemas.microsoft.com/office/powerpoint/2010/main" val="2688073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6B5A6-9A61-D627-9D41-F93D76AC1A8F}"/>
              </a:ext>
            </a:extLst>
          </p:cNvPr>
          <p:cNvSpPr txBox="1">
            <a:spLocks/>
          </p:cNvSpPr>
          <p:nvPr/>
        </p:nvSpPr>
        <p:spPr>
          <a:xfrm>
            <a:off x="2438401" y="648929"/>
            <a:ext cx="8514734" cy="786581"/>
          </a:xfrm>
          <a:prstGeom prst="rect">
            <a:avLst/>
          </a:prstGeom>
        </p:spPr>
        <p:txBody>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algn="r"/>
            <a:r>
              <a:rPr lang="en-IN" dirty="0">
                <a:solidFill>
                  <a:schemeClr val="accent1"/>
                </a:solidFill>
              </a:rPr>
              <a:t>IMPACT ON EMPLOYMENT</a:t>
            </a:r>
          </a:p>
        </p:txBody>
      </p:sp>
      <p:sp>
        <p:nvSpPr>
          <p:cNvPr id="3" name="Content Placeholder 2">
            <a:extLst>
              <a:ext uri="{FF2B5EF4-FFF2-40B4-BE49-F238E27FC236}">
                <a16:creationId xmlns:a16="http://schemas.microsoft.com/office/drawing/2014/main" id="{6954248F-C275-20E0-0D22-D122443D94A7}"/>
              </a:ext>
            </a:extLst>
          </p:cNvPr>
          <p:cNvSpPr txBox="1">
            <a:spLocks/>
          </p:cNvSpPr>
          <p:nvPr/>
        </p:nvSpPr>
        <p:spPr>
          <a:xfrm>
            <a:off x="6094412" y="1844824"/>
            <a:ext cx="5183188" cy="4197159"/>
          </a:xfrm>
          <a:prstGeom prst="rect">
            <a:avLst/>
          </a:prstGeom>
        </p:spPr>
        <p:txBody>
          <a:bodyPr>
            <a:normAutofit/>
          </a:bodyPr>
          <a:lst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pPr marL="0" indent="0">
              <a:lnSpc>
                <a:spcPct val="150000"/>
              </a:lnSpc>
              <a:buNone/>
            </a:pPr>
            <a:r>
              <a:rPr lang="en-US" sz="2000" dirty="0"/>
              <a:t>While robotics brings While robotics brings efficiency, it also raises concerns about job displacement. Understanding the balance between efficiency, it also raises concerns about job displacement. Understanding the balance between automation and employment is crucial for a sustainable future in the workforce.</a:t>
            </a:r>
            <a:endParaRPr lang="en-IN" sz="2000" dirty="0"/>
          </a:p>
        </p:txBody>
      </p:sp>
      <p:pic>
        <p:nvPicPr>
          <p:cNvPr id="4" name="Picture Placeholder 5">
            <a:extLst>
              <a:ext uri="{FF2B5EF4-FFF2-40B4-BE49-F238E27FC236}">
                <a16:creationId xmlns:a16="http://schemas.microsoft.com/office/drawing/2014/main" id="{6DBABD91-389D-55E0-B23A-55E1EC064E3A}"/>
              </a:ext>
            </a:extLst>
          </p:cNvPr>
          <p:cNvPicPr>
            <a:picLocks noChangeAspect="1"/>
          </p:cNvPicPr>
          <p:nvPr/>
        </p:nvPicPr>
        <p:blipFill>
          <a:blip r:embed="rId2"/>
          <a:srcRect t="10494" b="10494"/>
          <a:stretch>
            <a:fillRect/>
          </a:stretch>
        </p:blipFill>
        <p:spPr>
          <a:xfrm>
            <a:off x="845574" y="1052736"/>
            <a:ext cx="4888798" cy="5426722"/>
          </a:xfrm>
          <a:prstGeom prst="rect">
            <a:avLst/>
          </a:prstGeom>
          <a:ln>
            <a:noFill/>
          </a:ln>
          <a:effectLst>
            <a:softEdge rad="112500"/>
          </a:effectLst>
        </p:spPr>
      </p:pic>
    </p:spTree>
    <p:extLst>
      <p:ext uri="{BB962C8B-B14F-4D97-AF65-F5344CB8AC3E}">
        <p14:creationId xmlns:p14="http://schemas.microsoft.com/office/powerpoint/2010/main" val="1556442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C4187-26DE-20CB-601A-93C810C12688}"/>
              </a:ext>
            </a:extLst>
          </p:cNvPr>
          <p:cNvSpPr txBox="1">
            <a:spLocks/>
          </p:cNvSpPr>
          <p:nvPr/>
        </p:nvSpPr>
        <p:spPr>
          <a:xfrm>
            <a:off x="1125860" y="1057275"/>
            <a:ext cx="6131016" cy="787549"/>
          </a:xfrm>
          <a:prstGeom prst="rect">
            <a:avLst/>
          </a:prstGeom>
        </p:spPr>
        <p:txBody>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r>
              <a:rPr lang="en-IN" dirty="0">
                <a:solidFill>
                  <a:schemeClr val="accent1"/>
                </a:solidFill>
              </a:rPr>
              <a:t>ROBOTICS IN AGRICULTURE</a:t>
            </a:r>
          </a:p>
        </p:txBody>
      </p:sp>
      <p:sp>
        <p:nvSpPr>
          <p:cNvPr id="3" name="Content Placeholder 2">
            <a:extLst>
              <a:ext uri="{FF2B5EF4-FFF2-40B4-BE49-F238E27FC236}">
                <a16:creationId xmlns:a16="http://schemas.microsoft.com/office/drawing/2014/main" id="{BA463F5C-DE54-B3B6-7BB0-D321EACF4EE0}"/>
              </a:ext>
            </a:extLst>
          </p:cNvPr>
          <p:cNvSpPr txBox="1">
            <a:spLocks/>
          </p:cNvSpPr>
          <p:nvPr/>
        </p:nvSpPr>
        <p:spPr>
          <a:xfrm>
            <a:off x="981844" y="2060848"/>
            <a:ext cx="5192110" cy="3981135"/>
          </a:xfrm>
          <a:prstGeom prst="rect">
            <a:avLst/>
          </a:prstGeom>
        </p:spPr>
        <p:txBody>
          <a:bodyPr/>
          <a:lst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pPr marL="0" indent="0" algn="ctr">
              <a:lnSpc>
                <a:spcPct val="150000"/>
              </a:lnSpc>
              <a:buNone/>
            </a:pPr>
            <a:r>
              <a:rPr lang="en-US" sz="2000" dirty="0"/>
              <a:t>Agricultural robots assist in planting, harvesting, and monitoring crops. These innovations lead to increased productivity and sustainability, helping to address the challenges of food security.</a:t>
            </a:r>
            <a:endParaRPr lang="en-IN" sz="2000" dirty="0"/>
          </a:p>
        </p:txBody>
      </p:sp>
      <p:pic>
        <p:nvPicPr>
          <p:cNvPr id="4" name="Picture Placeholder 5">
            <a:extLst>
              <a:ext uri="{FF2B5EF4-FFF2-40B4-BE49-F238E27FC236}">
                <a16:creationId xmlns:a16="http://schemas.microsoft.com/office/drawing/2014/main" id="{8B7F3094-C96E-CD8F-3A24-602B930FAAA2}"/>
              </a:ext>
            </a:extLst>
          </p:cNvPr>
          <p:cNvPicPr>
            <a:picLocks noChangeAspect="1"/>
          </p:cNvPicPr>
          <p:nvPr/>
        </p:nvPicPr>
        <p:blipFill>
          <a:blip r:embed="rId2"/>
          <a:srcRect l="11874" r="11874"/>
          <a:stretch>
            <a:fillRect/>
          </a:stretch>
        </p:blipFill>
        <p:spPr>
          <a:xfrm>
            <a:off x="7256877" y="747252"/>
            <a:ext cx="4344695" cy="5603016"/>
          </a:xfrm>
          <a:prstGeom prst="rect">
            <a:avLst/>
          </a:prstGeom>
          <a:ln>
            <a:noFill/>
          </a:ln>
          <a:effectLst>
            <a:softEdge rad="112500"/>
          </a:effectLst>
        </p:spPr>
      </p:pic>
    </p:spTree>
    <p:extLst>
      <p:ext uri="{BB962C8B-B14F-4D97-AF65-F5344CB8AC3E}">
        <p14:creationId xmlns:p14="http://schemas.microsoft.com/office/powerpoint/2010/main" val="2372500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AE6D8-8488-7903-771F-0B7B96EBAC23}"/>
              </a:ext>
            </a:extLst>
          </p:cNvPr>
          <p:cNvSpPr txBox="1">
            <a:spLocks/>
          </p:cNvSpPr>
          <p:nvPr/>
        </p:nvSpPr>
        <p:spPr>
          <a:xfrm>
            <a:off x="5801032" y="1061885"/>
            <a:ext cx="5663381" cy="904568"/>
          </a:xfrm>
          <a:prstGeom prst="rect">
            <a:avLst/>
          </a:prstGeom>
        </p:spPr>
        <p:txBody>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r>
              <a:rPr lang="en-IN" dirty="0">
                <a:solidFill>
                  <a:schemeClr val="accent1"/>
                </a:solidFill>
              </a:rPr>
              <a:t>CHALLENGES IN ROBOTICS</a:t>
            </a:r>
          </a:p>
        </p:txBody>
      </p:sp>
      <p:sp>
        <p:nvSpPr>
          <p:cNvPr id="3" name="Content Placeholder 2">
            <a:extLst>
              <a:ext uri="{FF2B5EF4-FFF2-40B4-BE49-F238E27FC236}">
                <a16:creationId xmlns:a16="http://schemas.microsoft.com/office/drawing/2014/main" id="{1515617A-0DBB-D8F5-5953-4DA48344DDA0}"/>
              </a:ext>
            </a:extLst>
          </p:cNvPr>
          <p:cNvSpPr txBox="1">
            <a:spLocks/>
          </p:cNvSpPr>
          <p:nvPr/>
        </p:nvSpPr>
        <p:spPr>
          <a:xfrm>
            <a:off x="5801032" y="2605548"/>
            <a:ext cx="5083278" cy="3436435"/>
          </a:xfrm>
          <a:prstGeom prst="rect">
            <a:avLst/>
          </a:prstGeom>
        </p:spPr>
        <p:txBody>
          <a:bodyPr/>
          <a:lst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pPr marL="0" indent="0" algn="ctr">
              <a:lnSpc>
                <a:spcPct val="150000"/>
              </a:lnSpc>
              <a:buNone/>
            </a:pPr>
            <a:r>
              <a:rPr lang="en-US" sz="2000" dirty="0"/>
              <a:t>Despite advancements, the field of robotics faces challenges such as ethical concerns, high costs, and technical limitations. Addressing these issues is vital for the widespread </a:t>
            </a:r>
            <a:r>
              <a:rPr lang="en-IN" sz="2000" dirty="0"/>
              <a:t>adoption of robotic technologies.</a:t>
            </a:r>
          </a:p>
        </p:txBody>
      </p:sp>
      <p:pic>
        <p:nvPicPr>
          <p:cNvPr id="4" name="Picture Placeholder 5">
            <a:extLst>
              <a:ext uri="{FF2B5EF4-FFF2-40B4-BE49-F238E27FC236}">
                <a16:creationId xmlns:a16="http://schemas.microsoft.com/office/drawing/2014/main" id="{A29FF3B9-32E2-4C59-62A2-5D0787DB2D80}"/>
              </a:ext>
            </a:extLst>
          </p:cNvPr>
          <p:cNvPicPr>
            <a:picLocks noChangeAspect="1"/>
          </p:cNvPicPr>
          <p:nvPr/>
        </p:nvPicPr>
        <p:blipFill>
          <a:blip r:embed="rId2"/>
          <a:srcRect l="9471" r="9471"/>
          <a:stretch>
            <a:fillRect/>
          </a:stretch>
        </p:blipFill>
        <p:spPr>
          <a:xfrm>
            <a:off x="909836" y="1340769"/>
            <a:ext cx="4783042" cy="5138690"/>
          </a:xfrm>
          <a:prstGeom prst="rect">
            <a:avLst/>
          </a:prstGeom>
          <a:ln>
            <a:noFill/>
          </a:ln>
          <a:effectLst>
            <a:softEdge rad="112500"/>
          </a:effectLst>
        </p:spPr>
      </p:pic>
    </p:spTree>
    <p:extLst>
      <p:ext uri="{BB962C8B-B14F-4D97-AF65-F5344CB8AC3E}">
        <p14:creationId xmlns:p14="http://schemas.microsoft.com/office/powerpoint/2010/main" val="1061636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3B01D-12AD-8E95-BC4A-BF69B0B04ECE}"/>
              </a:ext>
            </a:extLst>
          </p:cNvPr>
          <p:cNvSpPr txBox="1">
            <a:spLocks/>
          </p:cNvSpPr>
          <p:nvPr/>
        </p:nvSpPr>
        <p:spPr>
          <a:xfrm>
            <a:off x="914400" y="1057275"/>
            <a:ext cx="5259554" cy="2495028"/>
          </a:xfrm>
          <a:prstGeom prst="rect">
            <a:avLst/>
          </a:prstGeom>
        </p:spPr>
        <p:txBody>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r>
              <a:rPr lang="en-IN" dirty="0">
                <a:solidFill>
                  <a:schemeClr val="accent1"/>
                </a:solidFill>
              </a:rPr>
              <a:t>FUTURE OF ROBOTICS</a:t>
            </a:r>
          </a:p>
        </p:txBody>
      </p:sp>
      <p:sp>
        <p:nvSpPr>
          <p:cNvPr id="3" name="Text Placeholder 3">
            <a:extLst>
              <a:ext uri="{FF2B5EF4-FFF2-40B4-BE49-F238E27FC236}">
                <a16:creationId xmlns:a16="http://schemas.microsoft.com/office/drawing/2014/main" id="{7FCFD252-CD89-2420-3AC3-E2132C038E50}"/>
              </a:ext>
            </a:extLst>
          </p:cNvPr>
          <p:cNvSpPr txBox="1">
            <a:spLocks/>
          </p:cNvSpPr>
          <p:nvPr/>
        </p:nvSpPr>
        <p:spPr>
          <a:xfrm>
            <a:off x="914400" y="2132856"/>
            <a:ext cx="5259554" cy="3909127"/>
          </a:xfrm>
          <a:prstGeom prst="rect">
            <a:avLst/>
          </a:prstGeom>
        </p:spPr>
        <p:txBody>
          <a:bodyPr>
            <a:normAutofit/>
          </a:bodyPr>
          <a:lst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pPr marL="0" indent="0">
              <a:lnSpc>
                <a:spcPct val="150000"/>
              </a:lnSpc>
              <a:buNone/>
            </a:pPr>
            <a:r>
              <a:rPr lang="en-US" sz="2000" dirty="0"/>
              <a:t>The Future of robotics is promising, with advancements in AI, machine learning, and automation. We can expect more intelligent and capable robots that will further integrate into our daily lives, enhancing our Experiences.</a:t>
            </a:r>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US" sz="2000" dirty="0"/>
          </a:p>
          <a:p>
            <a:pPr marL="0" indent="0">
              <a:lnSpc>
                <a:spcPct val="150000"/>
              </a:lnSpc>
              <a:buNone/>
            </a:pPr>
            <a:endParaRPr lang="en-IN" sz="2000" dirty="0"/>
          </a:p>
        </p:txBody>
      </p:sp>
      <p:pic>
        <p:nvPicPr>
          <p:cNvPr id="4" name="Picture Placeholder 7">
            <a:extLst>
              <a:ext uri="{FF2B5EF4-FFF2-40B4-BE49-F238E27FC236}">
                <a16:creationId xmlns:a16="http://schemas.microsoft.com/office/drawing/2014/main" id="{39C8C794-60AF-3D6B-C7D5-0179BC2859E0}"/>
              </a:ext>
            </a:extLst>
          </p:cNvPr>
          <p:cNvPicPr>
            <a:picLocks noChangeAspect="1"/>
          </p:cNvPicPr>
          <p:nvPr/>
        </p:nvPicPr>
        <p:blipFill>
          <a:blip r:embed="rId2"/>
          <a:srcRect l="9343" r="9343"/>
          <a:stretch>
            <a:fillRect/>
          </a:stretch>
        </p:blipFill>
        <p:spPr>
          <a:xfrm>
            <a:off x="6351852" y="609600"/>
            <a:ext cx="4925748" cy="5889523"/>
          </a:xfrm>
          <a:prstGeom prst="rect">
            <a:avLst/>
          </a:prstGeom>
          <a:ln>
            <a:noFill/>
          </a:ln>
          <a:effectLst>
            <a:softEdge rad="112500"/>
          </a:effectLst>
        </p:spPr>
      </p:pic>
    </p:spTree>
    <p:extLst>
      <p:ext uri="{BB962C8B-B14F-4D97-AF65-F5344CB8AC3E}">
        <p14:creationId xmlns:p14="http://schemas.microsoft.com/office/powerpoint/2010/main" val="1630653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48F96688-B794-F4F7-520F-32F49AF224DD}"/>
                  </a:ext>
                </a:extLst>
              </p14:cNvPr>
              <p14:cNvContentPartPr/>
              <p14:nvPr/>
            </p14:nvContentPartPr>
            <p14:xfrm>
              <a:off x="793029" y="1324550"/>
              <a:ext cx="360" cy="360"/>
            </p14:xfrm>
          </p:contentPart>
        </mc:Choice>
        <mc:Fallback xmlns="">
          <p:pic>
            <p:nvPicPr>
              <p:cNvPr id="2" name="Ink 1">
                <a:extLst>
                  <a:ext uri="{FF2B5EF4-FFF2-40B4-BE49-F238E27FC236}">
                    <a16:creationId xmlns:a16="http://schemas.microsoft.com/office/drawing/2014/main" id="{48F96688-B794-F4F7-520F-32F49AF224DD}"/>
                  </a:ext>
                </a:extLst>
              </p:cNvPr>
              <p:cNvPicPr/>
              <p:nvPr/>
            </p:nvPicPr>
            <p:blipFill>
              <a:blip r:embed="rId3"/>
              <a:stretch>
                <a:fillRect/>
              </a:stretch>
            </p:blipFill>
            <p:spPr>
              <a:xfrm>
                <a:off x="786909" y="131843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FB072AB4-AF41-BA38-19A4-49B0B242072F}"/>
                  </a:ext>
                </a:extLst>
              </p14:cNvPr>
              <p14:cNvContentPartPr/>
              <p14:nvPr/>
            </p14:nvContentPartPr>
            <p14:xfrm>
              <a:off x="1277589" y="1165430"/>
              <a:ext cx="477000" cy="664200"/>
            </p14:xfrm>
          </p:contentPart>
        </mc:Choice>
        <mc:Fallback xmlns="">
          <p:pic>
            <p:nvPicPr>
              <p:cNvPr id="3" name="Ink 2">
                <a:extLst>
                  <a:ext uri="{FF2B5EF4-FFF2-40B4-BE49-F238E27FC236}">
                    <a16:creationId xmlns:a16="http://schemas.microsoft.com/office/drawing/2014/main" id="{FB072AB4-AF41-BA38-19A4-49B0B242072F}"/>
                  </a:ext>
                </a:extLst>
              </p:cNvPr>
              <p:cNvPicPr/>
              <p:nvPr/>
            </p:nvPicPr>
            <p:blipFill>
              <a:blip r:embed="rId5"/>
              <a:stretch>
                <a:fillRect/>
              </a:stretch>
            </p:blipFill>
            <p:spPr>
              <a:xfrm>
                <a:off x="1271469" y="1159310"/>
                <a:ext cx="489240" cy="676440"/>
              </a:xfrm>
              <a:prstGeom prst="rect">
                <a:avLst/>
              </a:prstGeom>
            </p:spPr>
          </p:pic>
        </mc:Fallback>
      </mc:AlternateContent>
      <p:sp>
        <p:nvSpPr>
          <p:cNvPr id="6" name="Title 5">
            <a:extLst>
              <a:ext uri="{FF2B5EF4-FFF2-40B4-BE49-F238E27FC236}">
                <a16:creationId xmlns:a16="http://schemas.microsoft.com/office/drawing/2014/main" id="{0BABA179-706C-0F8C-707F-CA6DF8631EEF}"/>
              </a:ext>
            </a:extLst>
          </p:cNvPr>
          <p:cNvSpPr>
            <a:spLocks noGrp="1"/>
          </p:cNvSpPr>
          <p:nvPr>
            <p:ph type="title"/>
          </p:nvPr>
        </p:nvSpPr>
        <p:spPr>
          <a:xfrm>
            <a:off x="1218883" y="274637"/>
            <a:ext cx="3723041" cy="1223963"/>
          </a:xfrm>
        </p:spPr>
        <p:txBody>
          <a:bodyPr>
            <a:normAutofit/>
          </a:bodyPr>
          <a:lstStyle/>
          <a:p>
            <a:pPr algn="ctr"/>
            <a:r>
              <a:rPr lang="en-IN" dirty="0">
                <a:solidFill>
                  <a:schemeClr val="accent1">
                    <a:lumMod val="75000"/>
                  </a:schemeClr>
                </a:solidFill>
              </a:rPr>
              <a:t>CONCLUSION</a:t>
            </a:r>
          </a:p>
        </p:txBody>
      </p:sp>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F3E9DFD7-F94B-4642-20F7-6565B2CB1810}"/>
                  </a:ext>
                </a:extLst>
              </p14:cNvPr>
              <p14:cNvContentPartPr/>
              <p14:nvPr/>
            </p14:nvContentPartPr>
            <p14:xfrm>
              <a:off x="3554949" y="1343601"/>
              <a:ext cx="360" cy="360"/>
            </p14:xfrm>
          </p:contentPart>
        </mc:Choice>
        <mc:Fallback xmlns="">
          <p:pic>
            <p:nvPicPr>
              <p:cNvPr id="7" name="Ink 6">
                <a:extLst>
                  <a:ext uri="{FF2B5EF4-FFF2-40B4-BE49-F238E27FC236}">
                    <a16:creationId xmlns:a16="http://schemas.microsoft.com/office/drawing/2014/main" id="{F3E9DFD7-F94B-4642-20F7-6565B2CB1810}"/>
                  </a:ext>
                </a:extLst>
              </p:cNvPr>
              <p:cNvPicPr/>
              <p:nvPr/>
            </p:nvPicPr>
            <p:blipFill>
              <a:blip r:embed="rId3"/>
              <a:stretch>
                <a:fillRect/>
              </a:stretch>
            </p:blipFill>
            <p:spPr>
              <a:xfrm>
                <a:off x="3548829" y="1337481"/>
                <a:ext cx="12600" cy="12600"/>
              </a:xfrm>
              <a:prstGeom prst="rect">
                <a:avLst/>
              </a:prstGeom>
            </p:spPr>
          </p:pic>
        </mc:Fallback>
      </mc:AlternateContent>
      <p:grpSp>
        <p:nvGrpSpPr>
          <p:cNvPr id="10" name="Group 9">
            <a:extLst>
              <a:ext uri="{FF2B5EF4-FFF2-40B4-BE49-F238E27FC236}">
                <a16:creationId xmlns:a16="http://schemas.microsoft.com/office/drawing/2014/main" id="{9A18A3BF-F7F0-5E68-243C-FBBD573FED73}"/>
              </a:ext>
            </a:extLst>
          </p:cNvPr>
          <p:cNvGrpSpPr/>
          <p:nvPr/>
        </p:nvGrpSpPr>
        <p:grpSpPr>
          <a:xfrm>
            <a:off x="4422909" y="1250361"/>
            <a:ext cx="360" cy="360"/>
            <a:chOff x="4422909" y="1250361"/>
            <a:chExt cx="360" cy="360"/>
          </a:xfrm>
        </p:grpSpPr>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61669E4F-E977-CFC2-20CB-628355DBF4FA}"/>
                    </a:ext>
                  </a:extLst>
                </p14:cNvPr>
                <p14:cNvContentPartPr/>
                <p14:nvPr/>
              </p14:nvContentPartPr>
              <p14:xfrm>
                <a:off x="4422909" y="1250361"/>
                <a:ext cx="360" cy="360"/>
              </p14:xfrm>
            </p:contentPart>
          </mc:Choice>
          <mc:Fallback xmlns="">
            <p:pic>
              <p:nvPicPr>
                <p:cNvPr id="8" name="Ink 7">
                  <a:extLst>
                    <a:ext uri="{FF2B5EF4-FFF2-40B4-BE49-F238E27FC236}">
                      <a16:creationId xmlns:a16="http://schemas.microsoft.com/office/drawing/2014/main" id="{61669E4F-E977-CFC2-20CB-628355DBF4FA}"/>
                    </a:ext>
                  </a:extLst>
                </p:cNvPr>
                <p:cNvPicPr/>
                <p:nvPr/>
              </p:nvPicPr>
              <p:blipFill>
                <a:blip r:embed="rId3"/>
                <a:stretch>
                  <a:fillRect/>
                </a:stretch>
              </p:blipFill>
              <p:spPr>
                <a:xfrm>
                  <a:off x="4416789" y="12442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21DE5867-D34D-DA8B-90F5-B5D82838C9D7}"/>
                    </a:ext>
                  </a:extLst>
                </p14:cNvPr>
                <p14:cNvContentPartPr/>
                <p14:nvPr/>
              </p14:nvContentPartPr>
              <p14:xfrm>
                <a:off x="4422909" y="1250361"/>
                <a:ext cx="360" cy="360"/>
              </p14:xfrm>
            </p:contentPart>
          </mc:Choice>
          <mc:Fallback xmlns="">
            <p:pic>
              <p:nvPicPr>
                <p:cNvPr id="9" name="Ink 8">
                  <a:extLst>
                    <a:ext uri="{FF2B5EF4-FFF2-40B4-BE49-F238E27FC236}">
                      <a16:creationId xmlns:a16="http://schemas.microsoft.com/office/drawing/2014/main" id="{21DE5867-D34D-DA8B-90F5-B5D82838C9D7}"/>
                    </a:ext>
                  </a:extLst>
                </p:cNvPr>
                <p:cNvPicPr/>
                <p:nvPr/>
              </p:nvPicPr>
              <p:blipFill>
                <a:blip r:embed="rId3"/>
                <a:stretch>
                  <a:fillRect/>
                </a:stretch>
              </p:blipFill>
              <p:spPr>
                <a:xfrm>
                  <a:off x="4416789" y="1244241"/>
                  <a:ext cx="12600" cy="12600"/>
                </a:xfrm>
                <a:prstGeom prst="rect">
                  <a:avLst/>
                </a:prstGeom>
              </p:spPr>
            </p:pic>
          </mc:Fallback>
        </mc:AlternateContent>
      </p:grpSp>
      <p:sp>
        <p:nvSpPr>
          <p:cNvPr id="12" name="TextBox 11">
            <a:extLst>
              <a:ext uri="{FF2B5EF4-FFF2-40B4-BE49-F238E27FC236}">
                <a16:creationId xmlns:a16="http://schemas.microsoft.com/office/drawing/2014/main" id="{D9D121D3-7244-E4FC-437E-E51758D012D2}"/>
              </a:ext>
            </a:extLst>
          </p:cNvPr>
          <p:cNvSpPr txBox="1"/>
          <p:nvPr/>
        </p:nvSpPr>
        <p:spPr>
          <a:xfrm>
            <a:off x="1485900" y="2274838"/>
            <a:ext cx="7646437" cy="1938992"/>
          </a:xfrm>
          <a:prstGeom prst="rect">
            <a:avLst/>
          </a:prstGeom>
          <a:noFill/>
        </p:spPr>
        <p:txBody>
          <a:bodyPr wrap="square">
            <a:spAutoFit/>
          </a:bodyPr>
          <a:lstStyle/>
          <a:p>
            <a:r>
              <a:rPr lang="en-US" dirty="0"/>
              <a:t>“Robotics has grown from simple machines of the past to advanced helpers of today, and in the future, it promises to reshape the way we live and work. It is both a challenge and an opportunity, reminding us that technology should serve humanity, not replace it</a:t>
            </a:r>
            <a:endParaRPr lang="en-IN" dirty="0"/>
          </a:p>
        </p:txBody>
      </p:sp>
    </p:spTree>
    <p:extLst>
      <p:ext uri="{BB962C8B-B14F-4D97-AF65-F5344CB8AC3E}">
        <p14:creationId xmlns:p14="http://schemas.microsoft.com/office/powerpoint/2010/main" val="66498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B94EB-71E2-898F-5232-5D13B0914D5B}"/>
              </a:ext>
            </a:extLst>
          </p:cNvPr>
          <p:cNvSpPr>
            <a:spLocks noGrp="1"/>
          </p:cNvSpPr>
          <p:nvPr>
            <p:ph type="title"/>
          </p:nvPr>
        </p:nvSpPr>
        <p:spPr>
          <a:xfrm>
            <a:off x="4006180" y="2924944"/>
            <a:ext cx="4392488" cy="720080"/>
          </a:xfrm>
        </p:spPr>
        <p:txBody>
          <a:bodyPr>
            <a:noAutofit/>
          </a:bodyPr>
          <a:lstStyle/>
          <a:p>
            <a:pPr algn="ctr"/>
            <a:r>
              <a:rPr lang="en-IN" sz="4800" dirty="0">
                <a:solidFill>
                  <a:schemeClr val="accent1">
                    <a:lumMod val="75000"/>
                  </a:schemeClr>
                </a:solidFill>
              </a:rPr>
              <a:t>THANK YOU</a:t>
            </a:r>
          </a:p>
        </p:txBody>
      </p:sp>
    </p:spTree>
    <p:extLst>
      <p:ext uri="{BB962C8B-B14F-4D97-AF65-F5344CB8AC3E}">
        <p14:creationId xmlns:p14="http://schemas.microsoft.com/office/powerpoint/2010/main" val="2077071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36F65B-1B07-41EE-A0E8-BC6EF38552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222</TotalTime>
  <Words>415</Words>
  <Application>Microsoft Office PowerPoint</Application>
  <PresentationFormat>Custom</PresentationFormat>
  <Paragraphs>53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Agency FB</vt:lpstr>
      <vt:lpstr>Arial</vt:lpstr>
      <vt:lpstr>Bahnschrift Light</vt:lpstr>
      <vt:lpstr>Calibri</vt:lpstr>
      <vt:lpstr>Tech 16x9</vt:lpstr>
      <vt:lpstr>ROBOTICS</vt:lpstr>
      <vt:lpstr>INTRODUCTION TO ROBOTICS</vt:lpstr>
      <vt:lpstr>History of robotics</vt:lpstr>
      <vt:lpstr>TYPES OF ROBOTICS</vt:lpstr>
      <vt:lpstr>ROBOTS IN HEALTHCARE</vt:lpstr>
      <vt:lpstr>Robotics IN EDUCATION</vt:lpstr>
      <vt:lpstr>PowerPoint Presentation</vt:lpstr>
      <vt:lpstr>PowerPoint Presentation</vt:lpstr>
      <vt:lpstr>PowerPoint Presentation</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Kasturi Sawant</dc:creator>
  <cp:lastModifiedBy>Kasturi Sawant</cp:lastModifiedBy>
  <cp:revision>14</cp:revision>
  <dcterms:created xsi:type="dcterms:W3CDTF">2025-02-04T15:57:08Z</dcterms:created>
  <dcterms:modified xsi:type="dcterms:W3CDTF">2025-10-29T15:46:00Z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